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79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مقدمة قصيرة: اسم النظام ولمن هو. المدة الكلية 5 دقائق، ويتحدث كل عضو في الفريق.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نحو 60 ثانية. ابدأ بالسيناريو ثم اذكر بيان المشكلة. يُفضّل استبدال السيناريو بقصة حقيقية من مقابلة مع مدير سوبرماركت.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الأرقام هنا من النظام نفسه: 3 أدوار و6 صلاحيات وضريبة 15%. يمكن إضافة نتائج استبيان ميداني إن وُجدت.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اشرح الحل في ثلاث خطوات: بيع، ثم تحديث المخزون، ثم متابعة المدير. وبيّن لماذا تفوّق على البدائل.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أكمل أرقام السعر والتكلفة والربح من نموذج العمل الخاص بكم. الربح = الإيرادات − المصروفات.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افتح الموقع مباشرة وجرّب الدخول بالحسابات التجريبية الثلاثة.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A282-23EF-F8F5-61B6-2704D3F49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B002B-B4F4-E547-77B9-97F361D98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2F2D7-E4C4-A66B-16AD-5A108D6F5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اختم بالطلب المحدد ثم قل: شكراً لكم — هل من أسئلة؟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61363-F658-D4F6-4999-A510B90DA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9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82272" y="0"/>
            <a:ext cx="109728" cy="68580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31064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نظام إدارة السوبرماركت المتكامل</a:t>
            </a:r>
            <a:endParaRPr lang="ar-EG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31064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المبيعات والمخزون ونقطة البيع في نظام واحد لأصحاب السوبرماركت</a:t>
            </a:r>
            <a:endParaRPr lang="ar-EG" sz="2000" dirty="0"/>
          </a:p>
        </p:txBody>
      </p:sp>
      <p:sp>
        <p:nvSpPr>
          <p:cNvPr id="6" name="Shape 4"/>
          <p:cNvSpPr/>
          <p:nvPr/>
        </p:nvSpPr>
        <p:spPr>
          <a:xfrm>
            <a:off x="8077200" y="3749040"/>
            <a:ext cx="3291840" cy="0"/>
          </a:xfrm>
          <a:prstGeom prst="line">
            <a:avLst/>
          </a:prstGeom>
          <a:noFill/>
          <a:ln w="1905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5344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المجموعة [  ]   ·   [</a:t>
            </a:r>
            <a:r>
              <a:rPr lang="en-US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Ahmed Elsayed Youssef</a:t>
            </a:r>
            <a:r>
              <a:rPr lang="ar-EG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]  ·  [العضو 2]  ·  [العضو 3]  ·  [العضو 4]</a:t>
            </a:r>
            <a:endParaRPr lang="ar-EG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49936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الشريحة 1  ·  خرائط التعاطف  ·  بيان المشكلة</a:t>
            </a:r>
            <a:endParaRPr lang="ar-EG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945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المشكلة</a:t>
            </a:r>
            <a:endParaRPr lang="ar-EG" sz="3200" dirty="0"/>
          </a:p>
        </p:txBody>
      </p:sp>
      <p:sp>
        <p:nvSpPr>
          <p:cNvPr id="5" name="Shape 3"/>
          <p:cNvSpPr/>
          <p:nvPr/>
        </p:nvSpPr>
        <p:spPr>
          <a:xfrm>
            <a:off x="615696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114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سيناريو شائع</a:t>
            </a:r>
            <a:endParaRPr lang="ar-EG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31280" y="20116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مدير سوبرماركت في نهاية الشفت:</a:t>
            </a:r>
            <a:endParaRPr lang="ar-EG" sz="16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«الرصيد على الرف لا يطابق الدفتر، والفواتير مكتوبة في أوراق وجداول متفرقة، ولا أحد يعرف أين ذهب الفرق ولا من المسؤول عنه.»</a:t>
            </a:r>
            <a:endParaRPr lang="ar-EG" sz="1600" dirty="0"/>
          </a:p>
          <a:p>
            <a:pPr marL="0" indent="0" algn="r" rtl="1">
              <a:buNone/>
            </a:pPr>
            <a:r>
              <a:rPr lang="ar-EG" alt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هذا ما صُمّم النظام لحله.</a:t>
            </a:r>
            <a:endParaRPr lang="ar-EG" sz="1600" dirty="0"/>
          </a:p>
        </p:txBody>
      </p:sp>
      <p:sp>
        <p:nvSpPr>
          <p:cNvPr id="8" name="Shape 6"/>
          <p:cNvSpPr/>
          <p:nvPr/>
        </p:nvSpPr>
        <p:spPr>
          <a:xfrm>
            <a:off x="551688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8888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بيان المشكلة</a:t>
            </a:r>
            <a:endParaRPr lang="ar-EG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6008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أصحاب السوبرماركت الصغيرة والمتوسطة يعجزون عن متابعة المبيعات والمخزون والمرتجعات بدقة خلال الشفتات المتعددة، لأن بياناتهم موزعة بين دفاتر وجداول وبرامج غير مترابطة.</a:t>
            </a:r>
            <a:endParaRPr lang="ar-EG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94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49936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الشريحة 2  ·  أبحاث السوق</a:t>
            </a:r>
            <a:endParaRPr lang="ar-EG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945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النظام بالأرقام</a:t>
            </a:r>
            <a:endParaRPr lang="ar-EG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945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المنهج: استعراض مباشر للنظام المنشور على الإنترنت</a:t>
            </a:r>
            <a:endParaRPr lang="ar-EG" sz="1500" dirty="0"/>
          </a:p>
        </p:txBody>
      </p:sp>
      <p:sp>
        <p:nvSpPr>
          <p:cNvPr id="6" name="Shape 4"/>
          <p:cNvSpPr/>
          <p:nvPr/>
        </p:nvSpPr>
        <p:spPr>
          <a:xfrm>
            <a:off x="807720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86612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866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5152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3 أدوار</a:t>
            </a:r>
            <a:endParaRPr lang="ar-EG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35152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مدير وكاشير وعميل، ولكل دور شاشاته وصلاحياته الخاصة.</a:t>
            </a:r>
            <a:endParaRPr lang="ar-EG" sz="1400" dirty="0"/>
          </a:p>
        </p:txBody>
      </p:sp>
      <p:sp>
        <p:nvSpPr>
          <p:cNvPr id="11" name="Shape 9"/>
          <p:cNvSpPr/>
          <p:nvPr/>
        </p:nvSpPr>
        <p:spPr>
          <a:xfrm>
            <a:off x="432816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1708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17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0248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6 صلاحيات</a:t>
            </a:r>
            <a:endParaRPr lang="ar-EG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60248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يحددها المدير لكل مستخدم: الإضافة والتسعير والحذف والجرد والمرتجعات والإعدادات.</a:t>
            </a:r>
            <a:endParaRPr lang="ar-EG" sz="1400" dirty="0"/>
          </a:p>
        </p:txBody>
      </p:sp>
      <p:sp>
        <p:nvSpPr>
          <p:cNvPr id="16" name="Shape 14"/>
          <p:cNvSpPr/>
          <p:nvPr/>
        </p:nvSpPr>
        <p:spPr>
          <a:xfrm>
            <a:off x="57912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6804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3680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15%</a:t>
            </a:r>
            <a:endParaRPr lang="ar-EG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5344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ضريبة القيمة المضافة تُحتسب تلقائياً على كل فاتورة في نقطة البيع.</a:t>
            </a:r>
            <a:endParaRPr lang="ar-EG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945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الخلاصة: نظام واحد يغطي دورة البيع كاملة بدلاً من أدوات منفصلة.</a:t>
            </a:r>
            <a:endParaRPr lang="ar-EG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94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49936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الشريحة 3  ·  مصفوفة القرار</a:t>
            </a:r>
            <a:endParaRPr lang="ar-EG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945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حلّنا</a:t>
            </a:r>
            <a:endParaRPr lang="ar-EG" sz="3200" dirty="0"/>
          </a:p>
        </p:txBody>
      </p:sp>
      <p:sp>
        <p:nvSpPr>
          <p:cNvPr id="5" name="Shape 3"/>
          <p:cNvSpPr/>
          <p:nvPr/>
        </p:nvSpPr>
        <p:spPr>
          <a:xfrm>
            <a:off x="4876800" y="14630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114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ماذا نقدّم</a:t>
            </a:r>
            <a:endParaRPr lang="ar-EG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151120" y="2011680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نظام ويب متكامل يجمع البيع والمخزون والمرتجعات في مكان واحد، بثلاث لغات وثماني عملات.</a:t>
            </a:r>
            <a:endParaRPr lang="ar-EG" sz="1600" dirty="0"/>
          </a:p>
          <a:p>
            <a:pPr marL="0" indent="0" algn="r" rtl="1">
              <a:spcAft>
                <a:spcPts val="600"/>
              </a:spcAft>
              <a:buNone/>
            </a:pPr>
            <a:r>
              <a:rPr lang="ar-EG" alt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كيف يعمل:</a:t>
            </a:r>
            <a:endParaRPr lang="ar-EG" sz="1600" dirty="0"/>
          </a:p>
          <a:p>
            <a:pPr marL="0" indent="0" algn="r" rtl="1">
              <a:spcAft>
                <a:spcPts val="6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1.  الكاشير يضيف الأصناف بالباركود ويصدر الفاتورة بالضريبة والخصومات.</a:t>
            </a:r>
            <a:endParaRPr lang="ar-EG" sz="1600" dirty="0"/>
          </a:p>
          <a:p>
            <a:pPr marL="0" indent="0" algn="r" rtl="1">
              <a:spcAft>
                <a:spcPts val="6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2.  المخزون يتحدّث فوراً، والمرتجع يعيد الكمية إلى الرف.</a:t>
            </a:r>
            <a:endParaRPr lang="ar-EG" sz="16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3.  المدير يتابع المبيعات حسب الشفت وتصله تنبيهات النواقص.</a:t>
            </a:r>
            <a:endParaRPr lang="ar-EG" sz="1600" dirty="0"/>
          </a:p>
          <a:p>
            <a:pPr marL="0" indent="0" algn="r" rtl="1">
              <a:buNone/>
            </a:pPr>
            <a:r>
              <a:rPr lang="ar-EG" alt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يدعم حفظ البيانات في Microsoft SQL Server 2025</a:t>
            </a:r>
            <a:endParaRPr lang="ar-EG" sz="1400" dirty="0"/>
          </a:p>
        </p:txBody>
      </p:sp>
      <p:sp>
        <p:nvSpPr>
          <p:cNvPr id="8" name="Shape 6"/>
          <p:cNvSpPr/>
          <p:nvPr/>
        </p:nvSpPr>
        <p:spPr>
          <a:xfrm>
            <a:off x="551688" y="146304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6008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لماذا هذا الحل؟</a:t>
            </a:r>
            <a:endParaRPr lang="ar-EG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6008" y="201168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قارنّا ثلاثة حلول من حيث الأثر وسهولة الاستخدام والتكلفة: الدفاتر وجداول إكسل، وبرنامج كاشير منفصل، ونظام متكامل.</a:t>
            </a:r>
            <a:endParaRPr lang="ar-EG" sz="1500" dirty="0"/>
          </a:p>
          <a:p>
            <a:pPr marL="0" indent="0" algn="r" rtl="1">
              <a:buNone/>
            </a:pPr>
            <a:r>
              <a:rPr lang="ar-EG" alt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هذا الحل الأعلى لأنه يربط البيع بالمخزون والصلاحيات مباشرة، ويعمل من المتصفح دون تركيب برامج.</a:t>
            </a:r>
            <a:endParaRPr lang="ar-EG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94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49936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الشريحة 4  ·  نموذج العمل</a:t>
            </a:r>
            <a:endParaRPr lang="ar-EG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945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كيف يحقق الربح</a:t>
            </a:r>
            <a:endParaRPr lang="ar-EG" sz="3200" dirty="0"/>
          </a:p>
        </p:txBody>
      </p:sp>
      <p:sp>
        <p:nvSpPr>
          <p:cNvPr id="5" name="Shape 3"/>
          <p:cNvSpPr/>
          <p:nvPr/>
        </p:nvSpPr>
        <p:spPr>
          <a:xfrm>
            <a:off x="807720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35152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من يدفع</a:t>
            </a:r>
            <a:endParaRPr lang="ar-EG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35152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أصحاب السوبرماركت والمتاجر الصغيرة والمتوسطة التي تدير الكاشير والمخزون يدوياً.</a:t>
            </a:r>
            <a:endParaRPr lang="ar-EG" sz="1500" dirty="0"/>
          </a:p>
        </p:txBody>
      </p:sp>
      <p:sp>
        <p:nvSpPr>
          <p:cNvPr id="8" name="Shape 6"/>
          <p:cNvSpPr/>
          <p:nvPr/>
        </p:nvSpPr>
        <p:spPr>
          <a:xfrm>
            <a:off x="432816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0248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كيف يصلون إلينا</a:t>
            </a:r>
            <a:endParaRPr lang="ar-EG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0248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الموقع الإلكتروني بدخول تجريبي بنقرة واحدة، والزيارات الميدانية للمتاجر القريبة.</a:t>
            </a:r>
            <a:endParaRPr lang="ar-EG" sz="1500" dirty="0"/>
          </a:p>
        </p:txBody>
      </p:sp>
      <p:sp>
        <p:nvSpPr>
          <p:cNvPr id="11" name="Shape 9"/>
          <p:cNvSpPr/>
          <p:nvPr/>
        </p:nvSpPr>
        <p:spPr>
          <a:xfrm>
            <a:off x="5791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534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ما نحتاجه</a:t>
            </a:r>
            <a:endParaRPr lang="ar-EG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344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استضافة سحابية على Vercel، وقاعدة بيانات SQL Server، وفريق للدعم والتدريب.</a:t>
            </a:r>
            <a:endParaRPr lang="ar-EG" sz="1500" dirty="0"/>
          </a:p>
        </p:txBody>
      </p:sp>
      <p:sp>
        <p:nvSpPr>
          <p:cNvPr id="14" name="Shape 12"/>
          <p:cNvSpPr/>
          <p:nvPr/>
        </p:nvSpPr>
        <p:spPr>
          <a:xfrm>
            <a:off x="548945" y="3840480"/>
            <a:ext cx="11094415" cy="1828800"/>
          </a:xfrm>
          <a:prstGeom prst="rect">
            <a:avLst/>
          </a:prstGeom>
          <a:solidFill>
            <a:srgbClr val="121A3A"/>
          </a:solidFill>
          <a:ln w="12700">
            <a:solidFill>
              <a:srgbClr val="12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7970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خلاصة الأرقام</a:t>
            </a:r>
            <a:endParaRPr lang="ar-EG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7720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سعر النظام لكل عميل</a:t>
            </a:r>
            <a:endParaRPr lang="ar-EG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7720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[  ] ج.م</a:t>
            </a:r>
            <a:endParaRPr lang="ar-EG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41960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التكلفة لكل عميل</a:t>
            </a:r>
            <a:endParaRPr lang="ar-EG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1960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[  ] ج.م</a:t>
            </a:r>
            <a:endParaRPr lang="ar-EG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76200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الربح لكل عميل</a:t>
            </a:r>
            <a:endParaRPr lang="ar-EG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200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[  ] ج.م</a:t>
            </a:r>
            <a:endParaRPr lang="ar-EG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54894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49936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الشريحة 5  ·  النموذج الأولي (MVP)</a:t>
            </a:r>
            <a:endParaRPr lang="ar-EG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945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Arial"/>
              </a:rPr>
              <a:t>النموذج الأولي</a:t>
            </a:r>
            <a:endParaRPr lang="ar-EG" sz="3200" dirty="0"/>
          </a:p>
        </p:txBody>
      </p:sp>
      <p:sp>
        <p:nvSpPr>
          <p:cNvPr id="5" name="Shape 3"/>
          <p:cNvSpPr/>
          <p:nvPr/>
        </p:nvSpPr>
        <p:spPr>
          <a:xfrm>
            <a:off x="615696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114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الشاشات المتاحة اليوم</a:t>
            </a:r>
            <a:endParaRPr lang="ar-EG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31280" y="20116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7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لوحة التحكم ومتابعة حركة المبيعات</a:t>
            </a:r>
            <a:endParaRPr lang="ar-EG" sz="1600" dirty="0"/>
          </a:p>
          <a:p>
            <a:pPr marL="0" indent="0" algn="r" rtl="1">
              <a:spcAft>
                <a:spcPts val="7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متجر التسوق وسلة العميل</a:t>
            </a:r>
            <a:endParaRPr lang="ar-EG" sz="1600" dirty="0"/>
          </a:p>
          <a:p>
            <a:pPr marL="0" indent="0" algn="r" rtl="1">
              <a:spcAft>
                <a:spcPts val="7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نقطة البيع (الكاشير) بالباركود</a:t>
            </a:r>
            <a:endParaRPr lang="ar-EG" sz="1600" dirty="0"/>
          </a:p>
          <a:p>
            <a:pPr marL="0" indent="0" algn="r" rtl="1">
              <a:spcAft>
                <a:spcPts val="7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إدارة الأصناف وتصنيفها بالأقسام</a:t>
            </a:r>
            <a:endParaRPr lang="ar-EG" sz="1600" dirty="0"/>
          </a:p>
          <a:p>
            <a:pPr marL="0" indent="0" algn="r" rtl="1">
              <a:spcAft>
                <a:spcPts val="7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جرد المخزون وتسوية الفروقات</a:t>
            </a:r>
            <a:endParaRPr lang="ar-EG" sz="1600" dirty="0"/>
          </a:p>
          <a:p>
            <a:pPr marL="0" indent="0" algn="r" rtl="1">
              <a:spcAft>
                <a:spcPts val="7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فواتير المبيعات والمرتجعات</a:t>
            </a:r>
            <a:endParaRPr lang="ar-EG" sz="1600" dirty="0"/>
          </a:p>
          <a:p>
            <a:pPr marL="0" indent="0" algn="r" rtl="1">
              <a:spcAft>
                <a:spcPts val="7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المستخدمون والصلاحيات</a:t>
            </a:r>
            <a:endParaRPr lang="ar-EG" sz="1600" dirty="0"/>
          </a:p>
          <a:p>
            <a:pPr marL="0" indent="0" algn="r" rtl="1">
              <a:spcAft>
                <a:spcPts val="7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إعدادات المتجر واللغة والعملة</a:t>
            </a:r>
            <a:endParaRPr lang="ar-EG" sz="1600" dirty="0"/>
          </a:p>
        </p:txBody>
      </p:sp>
      <p:sp>
        <p:nvSpPr>
          <p:cNvPr id="8" name="Shape 6"/>
          <p:cNvSpPr/>
          <p:nvPr/>
        </p:nvSpPr>
        <p:spPr>
          <a:xfrm>
            <a:off x="551688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8888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جرّبه الآن</a:t>
            </a:r>
            <a:endParaRPr lang="ar-EG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6008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6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افتح الرابط وادخل بنقرة واحدة بحساب تجريبي:</a:t>
            </a:r>
            <a:endParaRPr lang="ar-EG" sz="1600" dirty="0"/>
          </a:p>
          <a:p>
            <a:pPr marL="0" indent="0" algn="r">
              <a:spcAft>
                <a:spcPts val="1400"/>
              </a:spcAft>
              <a:buNone/>
            </a:pPr>
            <a:r>
              <a:rPr lang="ar-EG" altLang="en-US" sz="1600" b="1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super-market-eta-weld.vercel.app</a:t>
            </a:r>
            <a:endParaRPr lang="ar-EG" sz="1600" dirty="0"/>
          </a:p>
          <a:p>
            <a:pPr marL="0" indent="0" algn="r" rtl="1">
              <a:spcAft>
                <a:spcPts val="6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المدير: كل الصلاحيات</a:t>
            </a:r>
            <a:endParaRPr lang="ar-EG" sz="1600" dirty="0"/>
          </a:p>
          <a:p>
            <a:pPr marL="0" indent="0" algn="r" rtl="1">
              <a:spcAft>
                <a:spcPts val="6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الكاشير: نقطة البيع</a:t>
            </a:r>
            <a:endParaRPr lang="ar-EG" sz="1600" dirty="0"/>
          </a:p>
          <a:p>
            <a:pPr marL="0" indent="0" algn="r" rtl="1"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/>
                <a:ea typeface="Calibri"/>
                <a:cs typeface="Arial"/>
              </a:rPr>
              <a:t>العميل: التسوق فقط</a:t>
            </a:r>
            <a:endParaRPr lang="ar-EG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94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58A6-419E-20C4-8C89-B80C6E48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196D3D-5E5B-C77A-AD69-B85B92BEA186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E1C7EF-3098-D93E-C988-80F0C20ACA79}"/>
              </a:ext>
            </a:extLst>
          </p:cNvPr>
          <p:cNvSpPr txBox="1"/>
          <p:nvPr/>
        </p:nvSpPr>
        <p:spPr>
          <a:xfrm>
            <a:off x="249936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الشريحة 6  ·  الفريق</a:t>
            </a:r>
            <a:endParaRPr lang="ar-EG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B4FB51-7EAE-9895-30DA-B0BA17921FEF}"/>
              </a:ext>
            </a:extLst>
          </p:cNvPr>
          <p:cNvSpPr txBox="1"/>
          <p:nvPr/>
        </p:nvSpPr>
        <p:spPr>
          <a:xfrm>
            <a:off x="548945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لماذا نحن — وماذا نحتاج</a:t>
            </a:r>
            <a:endParaRPr lang="ar-EG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493590-9D42-FFD2-12B8-AC64CB6313F3}"/>
              </a:ext>
            </a:extLst>
          </p:cNvPr>
          <p:cNvSpPr/>
          <p:nvPr/>
        </p:nvSpPr>
        <p:spPr>
          <a:xfrm>
            <a:off x="615696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29233B-F2FF-40EB-B74C-FD99678496F9}"/>
              </a:ext>
            </a:extLst>
          </p:cNvPr>
          <p:cNvSpPr txBox="1"/>
          <p:nvPr/>
        </p:nvSpPr>
        <p:spPr>
          <a:xfrm>
            <a:off x="77114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فريقنا</a:t>
            </a:r>
            <a:endParaRPr lang="ar-EG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DB3F53-2319-D591-9AC2-173251FA4A38}"/>
              </a:ext>
            </a:extLst>
          </p:cNvPr>
          <p:cNvSpPr txBox="1"/>
          <p:nvPr/>
        </p:nvSpPr>
        <p:spPr>
          <a:xfrm>
            <a:off x="6431280" y="20116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[ا احمد البياع] — [تدريب الفريق] — [</a:t>
            </a:r>
            <a:r>
              <a:rPr lang="en-US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Backend</a:t>
            </a: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]</a:t>
            </a:r>
            <a:endParaRPr lang="ar-EG" sz="16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[احمد السيد يوسف] — [</a:t>
            </a:r>
            <a:r>
              <a:rPr lang="en-US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Programmer</a:t>
            </a: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] — [</a:t>
            </a:r>
            <a:r>
              <a:rPr lang="en-US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programming</a:t>
            </a: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]</a:t>
            </a:r>
            <a:endParaRPr lang="ar-EG" sz="16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[</a:t>
            </a:r>
            <a:r>
              <a:rPr lang="en-US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Creativa</a:t>
            </a: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] — [</a:t>
            </a:r>
            <a:r>
              <a:rPr lang="en-US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Support</a:t>
            </a: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] — [داعم]</a:t>
            </a:r>
            <a:endParaRPr lang="ar-EG" sz="16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[زملاء دورة </a:t>
            </a:r>
            <a:r>
              <a:rPr lang="en-US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Backend</a:t>
            </a: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] — [داعم وحافز] — [نشر </a:t>
            </a:r>
            <a:r>
              <a:rPr lang="ar-EG" alt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الروح الايجابية]</a:t>
            </a:r>
            <a:endParaRPr lang="ar-EG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F84833A-B920-305C-2D2C-CEBB2A8B2FF3}"/>
              </a:ext>
            </a:extLst>
          </p:cNvPr>
          <p:cNvSpPr/>
          <p:nvPr/>
        </p:nvSpPr>
        <p:spPr>
          <a:xfrm>
            <a:off x="551688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CDBF949-6D7A-9B8A-5B3A-4303079525B4}"/>
              </a:ext>
            </a:extLst>
          </p:cNvPr>
          <p:cNvSpPr txBox="1"/>
          <p:nvPr/>
        </p:nvSpPr>
        <p:spPr>
          <a:xfrm>
            <a:off x="1008888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EG" altLang="en-US" sz="11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طلبنا</a:t>
            </a:r>
            <a:endParaRPr lang="ar-EG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017DE6-BC32-51F3-9AC0-D0BB7523BCDE}"/>
              </a:ext>
            </a:extLst>
          </p:cNvPr>
          <p:cNvSpPr txBox="1"/>
          <p:nvPr/>
        </p:nvSpPr>
        <p:spPr>
          <a:xfrm>
            <a:off x="826008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ar-EG" alt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الخطوة التالية: تجربة النظام في سوبرماركت حقيقي لمدة شهر.</a:t>
            </a:r>
            <a:endParaRPr lang="ar-EG" sz="1600" dirty="0"/>
          </a:p>
          <a:p>
            <a:pPr marL="0" indent="0" algn="r" rtl="1">
              <a:buNone/>
            </a:pPr>
            <a:r>
              <a:rPr lang="ar-EG" alt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نحتاج إلى متجر شريك للتجربة، وملاحظات من الكاشير والمدير، وتمويل بسيط للاستضافة.</a:t>
            </a:r>
            <a:endParaRPr lang="ar-EG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28E0F02-D7E9-102F-CE0B-833B4B3791BE}"/>
              </a:ext>
            </a:extLst>
          </p:cNvPr>
          <p:cNvSpPr txBox="1"/>
          <p:nvPr/>
        </p:nvSpPr>
        <p:spPr>
          <a:xfrm>
            <a:off x="54894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24411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673</Words>
  <Application>Microsoft Office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youssef</cp:lastModifiedBy>
  <cp:revision>3</cp:revision>
  <dcterms:created xsi:type="dcterms:W3CDTF">2026-10-17T14:31:14Z</dcterms:created>
  <dcterms:modified xsi:type="dcterms:W3CDTF">2026-10-27T07:28:55Z</dcterms:modified>
</cp:coreProperties>
</file>